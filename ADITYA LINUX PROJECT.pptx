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40" d="100"/>
          <a:sy n="40" d="100"/>
        </p:scale>
        <p:origin x="2160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1223A-64B5-4C60-864B-6E37A65F33F3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D5D28-12FF-4B15-8AB4-66076C88B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889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1223A-64B5-4C60-864B-6E37A65F33F3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D5D28-12FF-4B15-8AB4-66076C88B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761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1223A-64B5-4C60-864B-6E37A65F33F3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D5D28-12FF-4B15-8AB4-66076C88B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879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1223A-64B5-4C60-864B-6E37A65F33F3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D5D28-12FF-4B15-8AB4-66076C88B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6417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1223A-64B5-4C60-864B-6E37A65F33F3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D5D28-12FF-4B15-8AB4-66076C88B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8900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1223A-64B5-4C60-864B-6E37A65F33F3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D5D28-12FF-4B15-8AB4-66076C88B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3168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1223A-64B5-4C60-864B-6E37A65F33F3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D5D28-12FF-4B15-8AB4-66076C88B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268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1223A-64B5-4C60-864B-6E37A65F33F3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D5D28-12FF-4B15-8AB4-66076C88B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7181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1223A-64B5-4C60-864B-6E37A65F33F3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D5D28-12FF-4B15-8AB4-66076C88B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0191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1223A-64B5-4C60-864B-6E37A65F33F3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D5D28-12FF-4B15-8AB4-66076C88B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645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1223A-64B5-4C60-864B-6E37A65F33F3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D5D28-12FF-4B15-8AB4-66076C88B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4852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31223A-64B5-4C60-864B-6E37A65F33F3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1D5D28-12FF-4B15-8AB4-66076C88BF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874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DB167-AE73-C372-D38E-71E9CDD9F8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49" y="1346199"/>
            <a:ext cx="5898807" cy="7303531"/>
          </a:xfrm>
        </p:spPr>
        <p:txBody>
          <a:bodyPr>
            <a:normAutofit fontScale="90000"/>
          </a:bodyPr>
          <a:lstStyle/>
          <a:p>
            <a:r>
              <a:rPr lang="en-US" sz="2700" b="1" u="sng" dirty="0"/>
              <a:t>UNIVERSITY INSTITUTE OF COMPUTING</a:t>
            </a:r>
            <a:br>
              <a:rPr lang="en-IN" sz="4000" dirty="0"/>
            </a:br>
            <a:r>
              <a:rPr lang="en-US" sz="4400" b="1" dirty="0"/>
              <a:t> </a:t>
            </a:r>
            <a:br>
              <a:rPr lang="en-IN" sz="4400" b="1" dirty="0"/>
            </a:br>
            <a:r>
              <a:rPr lang="en-US" sz="2700" b="1" dirty="0"/>
              <a:t>PROJECT REPORT</a:t>
            </a:r>
            <a:br>
              <a:rPr lang="en-IN" sz="2700" dirty="0"/>
            </a:br>
            <a:r>
              <a:rPr lang="en-US" sz="2700" b="1" dirty="0"/>
              <a:t>ON</a:t>
            </a:r>
            <a:br>
              <a:rPr lang="en-IN" sz="2000" dirty="0"/>
            </a:br>
            <a:br>
              <a:rPr lang="en-IN" sz="2400" dirty="0"/>
            </a:br>
            <a:br>
              <a:rPr lang="en-IN" sz="2400" dirty="0"/>
            </a:br>
            <a:r>
              <a:rPr lang="en-US" sz="2700" dirty="0"/>
              <a:t>Mini DevOps Pipeline  using Docker &amp; Shell</a:t>
            </a:r>
            <a:br>
              <a:rPr lang="en-IN" dirty="0"/>
            </a:br>
            <a:r>
              <a:rPr lang="en-US" dirty="0"/>
              <a:t> </a:t>
            </a:r>
            <a:br>
              <a:rPr lang="en-IN" dirty="0"/>
            </a:br>
            <a:r>
              <a:rPr lang="en-US" sz="2700" dirty="0"/>
              <a:t>Program Name: BCA</a:t>
            </a:r>
            <a:br>
              <a:rPr lang="en-IN" sz="2700" dirty="0"/>
            </a:br>
            <a:br>
              <a:rPr lang="en-IN" sz="2000" dirty="0"/>
            </a:b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Linux Administration</a:t>
            </a: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 23CAP-305</a:t>
            </a:r>
            <a:br>
              <a:rPr lang="en-IN" sz="4900" dirty="0"/>
            </a:br>
            <a:br>
              <a:rPr lang="en-US" sz="1000" dirty="0"/>
            </a:br>
            <a:br>
              <a:rPr lang="en-US" sz="1100" dirty="0"/>
            </a:br>
            <a:br>
              <a:rPr lang="en-US" sz="2000" b="1" dirty="0"/>
            </a:br>
            <a:br>
              <a:rPr lang="en-US" sz="2000" b="1" dirty="0"/>
            </a:br>
            <a:br>
              <a:rPr lang="en-US" sz="2000" b="1" dirty="0"/>
            </a:br>
            <a:br>
              <a:rPr lang="en-US" sz="2000" b="1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049151-4641-87C4-8B03-7C3364229A1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02565" y="133350"/>
            <a:ext cx="2280920" cy="457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3169402-787B-842A-5F7E-0444471B9C75}"/>
              </a:ext>
            </a:extLst>
          </p:cNvPr>
          <p:cNvPicPr/>
          <p:nvPr/>
        </p:nvPicPr>
        <p:blipFill>
          <a:blip r:embed="rId3"/>
          <a:srcRect t="35167" r="10975" b="23167"/>
          <a:stretch>
            <a:fillRect/>
          </a:stretch>
        </p:blipFill>
        <p:spPr>
          <a:xfrm>
            <a:off x="4962525" y="157480"/>
            <a:ext cx="1778635" cy="4330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34996E-6644-9B63-CE9E-7995FB1204D5}"/>
              </a:ext>
            </a:extLst>
          </p:cNvPr>
          <p:cNvSpPr txBox="1"/>
          <p:nvPr/>
        </p:nvSpPr>
        <p:spPr>
          <a:xfrm>
            <a:off x="202565" y="7515225"/>
            <a:ext cx="708406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  </a:t>
            </a:r>
            <a:r>
              <a:rPr lang="en-US" sz="1400" b="1" dirty="0"/>
              <a:t>SUBMITED BY:   </a:t>
            </a:r>
            <a:endParaRPr lang="en-IN" sz="1400" b="1" dirty="0"/>
          </a:p>
          <a:p>
            <a:r>
              <a:rPr lang="en-US" sz="1400" b="1" dirty="0"/>
              <a:t>       </a:t>
            </a:r>
            <a:endParaRPr lang="en-IN" sz="1400" b="1" dirty="0"/>
          </a:p>
          <a:p>
            <a:r>
              <a:rPr lang="en-US" sz="1400" b="1" dirty="0"/>
              <a:t>Name : Aditya 	                                                                  UID : 23BCA10549</a:t>
            </a:r>
          </a:p>
          <a:p>
            <a:r>
              <a:rPr lang="en-US" sz="1400" b="1" dirty="0"/>
              <a:t>Branch : BCA                                                                           Section/ Group: 9B</a:t>
            </a:r>
            <a:endParaRPr lang="en-IN" sz="1400" b="1" dirty="0"/>
          </a:p>
          <a:p>
            <a:r>
              <a:rPr lang="en-US" sz="1400" b="1" dirty="0"/>
              <a:t>Semester :  5TH                                                                     D.O.SUBMITION : 6 </a:t>
            </a:r>
            <a:r>
              <a:rPr lang="en-US" sz="1400" b="1" dirty="0" err="1"/>
              <a:t>nov</a:t>
            </a:r>
            <a:r>
              <a:rPr lang="en-US" sz="1400" b="1" dirty="0"/>
              <a:t> 2025</a:t>
            </a:r>
            <a:endParaRPr lang="en-IN" sz="1400" b="1" dirty="0"/>
          </a:p>
          <a:p>
            <a:r>
              <a:rPr lang="en-US" sz="1400" b="1" dirty="0"/>
              <a:t> </a:t>
            </a:r>
            <a:endParaRPr lang="en-IN" sz="1400" b="1" dirty="0"/>
          </a:p>
          <a:p>
            <a:r>
              <a:rPr lang="en-US" sz="1400" b="1" dirty="0"/>
              <a:t> </a:t>
            </a:r>
            <a:endParaRPr lang="en-IN" sz="1400" b="1" dirty="0"/>
          </a:p>
          <a:p>
            <a:r>
              <a:rPr lang="en-US" sz="1400" b="1" dirty="0"/>
              <a:t>SUBMITED TO:</a:t>
            </a:r>
            <a:endParaRPr lang="en-IN" sz="1400" b="1" dirty="0"/>
          </a:p>
          <a:p>
            <a:r>
              <a:rPr lang="en-US" sz="1400" b="1" dirty="0"/>
              <a:t> </a:t>
            </a:r>
            <a:endParaRPr lang="en-IN" sz="1400" b="1" dirty="0"/>
          </a:p>
          <a:p>
            <a:r>
              <a:rPr lang="en-US" sz="1400" b="1" dirty="0"/>
              <a:t>Name : Rajat </a:t>
            </a:r>
            <a:r>
              <a:rPr lang="en-US" sz="1400" b="1" dirty="0" err="1"/>
              <a:t>kapoor</a:t>
            </a:r>
            <a:r>
              <a:rPr lang="en-US" sz="1400" b="1" dirty="0"/>
              <a:t>                                                                            	</a:t>
            </a:r>
          </a:p>
          <a:p>
            <a:r>
              <a:rPr lang="en-US" sz="1400" b="1" dirty="0"/>
              <a:t>Desigination: </a:t>
            </a:r>
            <a:r>
              <a:rPr lang="en-IN" sz="1400" b="1" dirty="0"/>
              <a:t>Assistant Professor</a:t>
            </a:r>
            <a:r>
              <a:rPr lang="en-US" sz="1400" b="1" dirty="0"/>
              <a:t>	              </a:t>
            </a:r>
            <a:endParaRPr lang="en-IN" sz="1400" b="1" dirty="0"/>
          </a:p>
          <a:p>
            <a:r>
              <a:rPr lang="en-US" sz="1400" b="1" dirty="0"/>
              <a:t>                                                                                                          </a:t>
            </a:r>
          </a:p>
          <a:p>
            <a:r>
              <a:rPr lang="en-US" sz="1400" b="1" dirty="0"/>
              <a:t>                                         </a:t>
            </a:r>
          </a:p>
          <a:p>
            <a:r>
              <a:rPr lang="en-US" sz="1400" b="1" dirty="0"/>
              <a:t>      </a:t>
            </a:r>
          </a:p>
          <a:p>
            <a:r>
              <a:rPr lang="en-US" sz="1400" b="1" dirty="0"/>
              <a:t>                                                                                                          sign: ____________________ </a:t>
            </a:r>
            <a:endParaRPr lang="en-IN" sz="1400" b="1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87369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C1D69-4C1E-F3FF-0172-3C73F9118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185" y="1950720"/>
            <a:ext cx="6411976" cy="5181600"/>
          </a:xfrm>
        </p:spPr>
        <p:txBody>
          <a:bodyPr>
            <a:noAutofit/>
          </a:bodyPr>
          <a:lstStyle/>
          <a:p>
            <a:r>
              <a:rPr lang="en-US" sz="1400" dirty="0"/>
              <a:t>                                 </a:t>
            </a:r>
            <a:r>
              <a:rPr lang="en-US" sz="2800" b="1" dirty="0"/>
              <a:t>BONAFIDE CERTIFICATE </a:t>
            </a: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r>
              <a:rPr lang="en-US" sz="1600" dirty="0"/>
              <a:t>Certified that this project report “Mini DevOps Pipeline using Docker &amp; Shell” is the Bonafide work of ”Aditya” under UID “23BCA10549” who carried out the project work under my supervision. </a:t>
            </a:r>
            <a:br>
              <a:rPr lang="en-IN" sz="2400" dirty="0"/>
            </a:br>
            <a:br>
              <a:rPr lang="en-IN" sz="2400" dirty="0"/>
            </a:br>
            <a:br>
              <a:rPr lang="en-IN" sz="1400" dirty="0"/>
            </a:br>
            <a:br>
              <a:rPr lang="en-IN" sz="1400" dirty="0"/>
            </a:br>
            <a:br>
              <a:rPr lang="en-IN" sz="1400" dirty="0"/>
            </a:br>
            <a:br>
              <a:rPr lang="en-IN" sz="1400" dirty="0"/>
            </a:br>
            <a:br>
              <a:rPr lang="en-IN" sz="1400" dirty="0"/>
            </a:br>
            <a:r>
              <a:rPr lang="en-US" sz="1400" b="1" dirty="0"/>
              <a:t>SIGNATURE	</a:t>
            </a:r>
            <a:br>
              <a:rPr lang="en-IN" sz="1400" dirty="0"/>
            </a:br>
            <a:r>
              <a:rPr lang="en-US" sz="1400" b="1" dirty="0"/>
              <a:t>UIC DEPARTMENT</a:t>
            </a:r>
            <a:br>
              <a:rPr lang="en-IN" sz="1400" dirty="0"/>
            </a:br>
            <a:r>
              <a:rPr lang="en-US" sz="1400" b="1" dirty="0"/>
              <a:t>ASSISTANT PROFESSOR	</a:t>
            </a:r>
            <a:br>
              <a:rPr lang="en-IN" sz="1400" dirty="0"/>
            </a:br>
            <a:r>
              <a:rPr lang="en-US" sz="1400" b="1" dirty="0"/>
              <a:t>RAJAT KAPOOR</a:t>
            </a:r>
            <a:br>
              <a:rPr lang="en-IN" sz="1400" dirty="0"/>
            </a:br>
            <a:endParaRPr lang="en-IN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B60CB1-9A57-5DA7-37E2-758581BA123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02565" y="133350"/>
            <a:ext cx="2280920" cy="457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2344E1-73CB-C2E6-3022-79E9A914E954}"/>
              </a:ext>
            </a:extLst>
          </p:cNvPr>
          <p:cNvPicPr/>
          <p:nvPr/>
        </p:nvPicPr>
        <p:blipFill>
          <a:blip r:embed="rId3"/>
          <a:srcRect t="35167" r="10975" b="23167"/>
          <a:stretch>
            <a:fillRect/>
          </a:stretch>
        </p:blipFill>
        <p:spPr>
          <a:xfrm>
            <a:off x="4962525" y="157480"/>
            <a:ext cx="1778635" cy="433070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71EA1F54-8FEE-936D-F8AE-F2A567C70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4168" y="239886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025" name="Picture 418969965" descr="Best BCA, MCA College in India | Computing College in India ...">
            <a:extLst>
              <a:ext uri="{FF2B5EF4-FFF2-40B4-BE49-F238E27FC236}">
                <a16:creationId xmlns:a16="http://schemas.microsoft.com/office/drawing/2014/main" id="{44D15C93-E011-3FF0-A562-CF5ECF932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5688" y="723901"/>
            <a:ext cx="3004789" cy="746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EF28AA06-F659-B101-B92C-6975657CC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4168" y="1603549"/>
            <a:ext cx="685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023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35C11-7E3D-B947-0611-16F34AB3C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E4EDFD4-F8A0-F55D-2808-F0381CC7EF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3793169"/>
              </p:ext>
            </p:extLst>
          </p:nvPr>
        </p:nvGraphicFramePr>
        <p:xfrm>
          <a:off x="471488" y="2758440"/>
          <a:ext cx="6615111" cy="7680962"/>
        </p:xfrm>
        <a:graphic>
          <a:graphicData uri="http://schemas.openxmlformats.org/drawingml/2006/table">
            <a:tbl>
              <a:tblPr/>
              <a:tblGrid>
                <a:gridCol w="2205037">
                  <a:extLst>
                    <a:ext uri="{9D8B030D-6E8A-4147-A177-3AD203B41FA5}">
                      <a16:colId xmlns:a16="http://schemas.microsoft.com/office/drawing/2014/main" val="1951432459"/>
                    </a:ext>
                  </a:extLst>
                </a:gridCol>
                <a:gridCol w="2205037">
                  <a:extLst>
                    <a:ext uri="{9D8B030D-6E8A-4147-A177-3AD203B41FA5}">
                      <a16:colId xmlns:a16="http://schemas.microsoft.com/office/drawing/2014/main" val="3879781159"/>
                    </a:ext>
                  </a:extLst>
                </a:gridCol>
                <a:gridCol w="2205037">
                  <a:extLst>
                    <a:ext uri="{9D8B030D-6E8A-4147-A177-3AD203B41FA5}">
                      <a16:colId xmlns:a16="http://schemas.microsoft.com/office/drawing/2014/main" val="1064019178"/>
                    </a:ext>
                  </a:extLst>
                </a:gridCol>
              </a:tblGrid>
              <a:tr h="620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Sr. No.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Content Title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Page No.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494338"/>
                  </a:ext>
                </a:extLst>
              </a:tr>
              <a:tr h="620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Title Page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9985998"/>
                  </a:ext>
                </a:extLst>
              </a:tr>
              <a:tr h="620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Objective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586791"/>
                  </a:ext>
                </a:extLst>
              </a:tr>
              <a:tr h="620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4446520"/>
                  </a:ext>
                </a:extLst>
              </a:tr>
              <a:tr h="10495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Tools / Commands 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1723213"/>
                  </a:ext>
                </a:extLst>
              </a:tr>
              <a:tr h="620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Task / 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17887"/>
                  </a:ext>
                </a:extLst>
              </a:tr>
              <a:tr h="10495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Algorithm / Logic / Flowchart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857978"/>
                  </a:ext>
                </a:extLst>
              </a:tr>
              <a:tr h="620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Code Overview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9042163"/>
                  </a:ext>
                </a:extLst>
              </a:tr>
              <a:tr h="620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737292"/>
                  </a:ext>
                </a:extLst>
              </a:tr>
              <a:tr h="620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Conclusion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158942"/>
                  </a:ext>
                </a:extLst>
              </a:tr>
              <a:tr h="620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Learning Outcomes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8417682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AE981A42-A95C-35A9-C327-E69346D82EF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02565" y="133350"/>
            <a:ext cx="2280920" cy="457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7F7AB6-15D7-D308-6291-3332C749D83B}"/>
              </a:ext>
            </a:extLst>
          </p:cNvPr>
          <p:cNvPicPr/>
          <p:nvPr/>
        </p:nvPicPr>
        <p:blipFill>
          <a:blip r:embed="rId3"/>
          <a:srcRect t="35167" r="10975" b="23167"/>
          <a:stretch>
            <a:fillRect/>
          </a:stretch>
        </p:blipFill>
        <p:spPr>
          <a:xfrm>
            <a:off x="4962525" y="157480"/>
            <a:ext cx="1778635" cy="43307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DC85E067-2E96-1830-90B5-B55552FD8B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71488" y="996402"/>
            <a:ext cx="2040110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 of Contents:-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012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B9F2D-F649-2B88-A144-AB334F507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41139-147F-AA0E-0D35-1BC8B1159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7" y="374015"/>
            <a:ext cx="5915025" cy="12510712"/>
          </a:xfrm>
        </p:spPr>
        <p:txBody>
          <a:bodyPr>
            <a:noAutofit/>
          </a:bodyPr>
          <a:lstStyle/>
          <a:p>
            <a:r>
              <a:rPr lang="en-US" sz="2000" b="1" dirty="0"/>
              <a:t>Objective:</a:t>
            </a:r>
            <a:br>
              <a:rPr lang="en-US" sz="1200" b="1" dirty="0"/>
            </a:br>
            <a:br>
              <a:rPr lang="en-US" sz="1200" b="1" dirty="0"/>
            </a:br>
            <a:r>
              <a:rPr lang="en-US" sz="1400" dirty="0"/>
              <a:t>To </a:t>
            </a:r>
            <a:r>
              <a:rPr lang="en-US" sz="1400" b="1" dirty="0"/>
              <a:t>build a simple CI/CD (Continuous Integration and Continuous Deployment) pipeline</a:t>
            </a:r>
            <a:r>
              <a:rPr lang="en-US" sz="1400" dirty="0"/>
              <a:t> using </a:t>
            </a:r>
            <a:r>
              <a:rPr lang="en-US" sz="1400" b="1" dirty="0"/>
              <a:t>Docker</a:t>
            </a:r>
            <a:r>
              <a:rPr lang="en-US" sz="1400" dirty="0"/>
              <a:t> and </a:t>
            </a:r>
            <a:r>
              <a:rPr lang="en-US" sz="1400" b="1" dirty="0"/>
              <a:t>Shell scripting</a:t>
            </a:r>
            <a:r>
              <a:rPr lang="en-US" sz="1400" dirty="0"/>
              <a:t> that automates the build and deployment process of an application.</a:t>
            </a:r>
            <a:br>
              <a:rPr lang="en-US" sz="1400" dirty="0"/>
            </a:br>
            <a:br>
              <a:rPr lang="en-US" sz="1400" dirty="0"/>
            </a:br>
            <a:br>
              <a:rPr lang="en-US" sz="1400" dirty="0"/>
            </a:br>
            <a:r>
              <a:rPr lang="en-US" sz="2000" b="1" dirty="0"/>
              <a:t>Aim:</a:t>
            </a:r>
            <a:br>
              <a:rPr lang="en-US" sz="1400" b="1" dirty="0"/>
            </a:br>
            <a:br>
              <a:rPr lang="en-US" sz="1200" b="1" dirty="0"/>
            </a:br>
            <a:r>
              <a:rPr lang="en-US" sz="1400" dirty="0"/>
              <a:t>To understand and implement the core concepts of </a:t>
            </a:r>
            <a:r>
              <a:rPr lang="en-US" sz="1400" b="1" dirty="0"/>
              <a:t>DevOps automation</a:t>
            </a:r>
            <a:r>
              <a:rPr lang="en-US" sz="1400" dirty="0"/>
              <a:t> by scripting Docker build and deployment tasks, demonstrating how containerization and shell scripting streamline software delivery.</a:t>
            </a:r>
            <a:br>
              <a:rPr lang="en-US" sz="1400" dirty="0"/>
            </a:br>
            <a:br>
              <a:rPr lang="en-US" sz="1200" dirty="0"/>
            </a:br>
            <a:r>
              <a:rPr lang="en-US" sz="2000" b="1" dirty="0"/>
              <a:t>Tools / Commands Used:</a:t>
            </a:r>
            <a:br>
              <a:rPr lang="en-US" sz="2000" b="1" dirty="0"/>
            </a:br>
            <a:br>
              <a:rPr lang="en-US" sz="1200" b="1" dirty="0"/>
            </a:br>
            <a:r>
              <a:rPr lang="en-US" sz="1400" dirty="0"/>
              <a:t>Docker</a:t>
            </a:r>
            <a:br>
              <a:rPr lang="en-US" sz="1400" dirty="0"/>
            </a:br>
            <a:r>
              <a:rPr lang="en-US" sz="1400" dirty="0"/>
              <a:t>Bash / Shell Script</a:t>
            </a:r>
            <a:br>
              <a:rPr lang="en-US" sz="1400" dirty="0"/>
            </a:br>
            <a:r>
              <a:rPr lang="en-US" sz="1400" dirty="0"/>
              <a:t>Linux Terminal Commands</a:t>
            </a:r>
            <a:br>
              <a:rPr lang="en-US" sz="1400" dirty="0"/>
            </a:br>
            <a:r>
              <a:rPr lang="en-US" sz="1400" dirty="0" err="1"/>
              <a:t>Dockerfile</a:t>
            </a:r>
            <a:br>
              <a:rPr lang="en-US" sz="1400" dirty="0"/>
            </a:br>
            <a:br>
              <a:rPr lang="en-US" sz="1400" dirty="0"/>
            </a:br>
            <a:br>
              <a:rPr lang="en-US" sz="2000" dirty="0"/>
            </a:br>
            <a:r>
              <a:rPr lang="en-US" sz="2000" b="1" dirty="0"/>
              <a:t>Task / Description:</a:t>
            </a:r>
            <a:br>
              <a:rPr lang="en-US" sz="1200" b="1" dirty="0"/>
            </a:br>
            <a:br>
              <a:rPr lang="en-US" sz="1200" b="1" dirty="0"/>
            </a:br>
            <a:r>
              <a:rPr lang="en-US" sz="1400" dirty="0"/>
              <a:t>In this project, a </a:t>
            </a:r>
            <a:r>
              <a:rPr lang="en-US" sz="1400" b="1" dirty="0"/>
              <a:t>simple CI/CD pipeline</a:t>
            </a:r>
            <a:r>
              <a:rPr lang="en-US" sz="1400" dirty="0"/>
              <a:t> was created using </a:t>
            </a:r>
            <a:r>
              <a:rPr lang="en-US" sz="1400" b="1" dirty="0"/>
              <a:t>Docker</a:t>
            </a:r>
            <a:r>
              <a:rPr lang="en-US" sz="1400" dirty="0"/>
              <a:t> and </a:t>
            </a:r>
            <a:r>
              <a:rPr lang="en-US" sz="1400" b="1" dirty="0"/>
              <a:t>Shell scripting</a:t>
            </a:r>
            <a:r>
              <a:rPr lang="en-US" sz="1400" dirty="0"/>
              <a:t>.</a:t>
            </a:r>
            <a:br>
              <a:rPr lang="en-US" sz="1400" dirty="0"/>
            </a:br>
            <a:r>
              <a:rPr lang="en-US" sz="1400" dirty="0"/>
              <a:t>The pipeline performs the following automated tasks:</a:t>
            </a:r>
            <a:br>
              <a:rPr lang="en-US" sz="1400" dirty="0"/>
            </a:br>
            <a:br>
              <a:rPr lang="en-US" sz="1400" dirty="0"/>
            </a:br>
            <a:r>
              <a:rPr lang="en-US" sz="1400" b="1" dirty="0"/>
              <a:t>Code Checkout / Preparation</a:t>
            </a:r>
            <a:r>
              <a:rPr lang="en-US" sz="1400" dirty="0"/>
              <a:t> – Prepares application source code or files.</a:t>
            </a:r>
            <a:br>
              <a:rPr lang="en-US" sz="1400" dirty="0"/>
            </a:br>
            <a:br>
              <a:rPr lang="en-US" sz="1400" dirty="0"/>
            </a:br>
            <a:r>
              <a:rPr lang="en-US" sz="1400" b="1" dirty="0"/>
              <a:t>Docker Image Build</a:t>
            </a:r>
            <a:r>
              <a:rPr lang="en-US" sz="1400" dirty="0"/>
              <a:t> – Builds a Docker image from a </a:t>
            </a:r>
            <a:r>
              <a:rPr lang="en-US" sz="1400" dirty="0" err="1"/>
              <a:t>Dockerfile</a:t>
            </a:r>
            <a:r>
              <a:rPr lang="en-US" sz="1400" dirty="0"/>
              <a:t>.</a:t>
            </a:r>
            <a:br>
              <a:rPr lang="en-US" sz="1400" dirty="0"/>
            </a:br>
            <a:br>
              <a:rPr lang="en-US" sz="1400" dirty="0"/>
            </a:br>
            <a:r>
              <a:rPr lang="en-US" sz="1400" b="1" dirty="0"/>
              <a:t>Container Deployment</a:t>
            </a:r>
            <a:r>
              <a:rPr lang="en-US" sz="1400" dirty="0"/>
              <a:t> – Runs the image as a container.</a:t>
            </a:r>
            <a:br>
              <a:rPr lang="en-US" sz="1400" dirty="0"/>
            </a:br>
            <a:br>
              <a:rPr lang="en-US" sz="1400" dirty="0"/>
            </a:br>
            <a:r>
              <a:rPr lang="en-US" sz="1400" b="1" dirty="0"/>
              <a:t>Cleanup / Restart</a:t>
            </a:r>
            <a:r>
              <a:rPr lang="en-US" sz="1400" dirty="0"/>
              <a:t> – Removes old containers and deploys the latest version automatically.</a:t>
            </a:r>
            <a:br>
              <a:rPr lang="en-US" sz="1400" dirty="0"/>
            </a:br>
            <a:r>
              <a:rPr lang="en-US" sz="1400" dirty="0"/>
              <a:t>This approach simulates a </a:t>
            </a:r>
            <a:r>
              <a:rPr lang="en-US" sz="1400" b="1" dirty="0"/>
              <a:t>basic DevOps workflow</a:t>
            </a:r>
            <a:r>
              <a:rPr lang="en-US" sz="1400" dirty="0"/>
              <a:t>, enabling continuous integration and deployment using simple Linux tools.</a:t>
            </a:r>
            <a:br>
              <a:rPr lang="en-US" sz="1400" dirty="0"/>
            </a:br>
            <a:br>
              <a:rPr lang="en-US" sz="2000" dirty="0"/>
            </a:br>
            <a:r>
              <a:rPr lang="en-US" sz="2000" b="1" dirty="0"/>
              <a:t>Algorithm / Logic / Flowchart:</a:t>
            </a:r>
            <a:br>
              <a:rPr lang="en-US" sz="2000" b="1" dirty="0"/>
            </a:br>
            <a:r>
              <a:rPr lang="en-US" sz="2000" b="1" dirty="0"/>
              <a:t>Algorithm Steps:</a:t>
            </a:r>
            <a:br>
              <a:rPr lang="en-US" sz="2000" b="1" dirty="0"/>
            </a:br>
            <a:br>
              <a:rPr lang="en-US" sz="2000" b="1" dirty="0"/>
            </a:br>
            <a:r>
              <a:rPr lang="en-US" sz="2000" b="1" dirty="0"/>
              <a:t> </a:t>
            </a:r>
            <a:br>
              <a:rPr lang="en-US" sz="2000" b="1" dirty="0"/>
            </a:br>
            <a:r>
              <a:rPr lang="en-US" sz="1400" dirty="0"/>
              <a:t>Start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2. Write a </a:t>
            </a:r>
            <a:r>
              <a:rPr lang="en-US" sz="2000" dirty="0" err="1"/>
              <a:t>Dockerfile</a:t>
            </a:r>
            <a:r>
              <a:rPr lang="en-US" sz="1050" dirty="0"/>
              <a:t> </a:t>
            </a:r>
            <a:r>
              <a:rPr lang="en-US" sz="1400" dirty="0"/>
              <a:t>defining the environment and application setup.</a:t>
            </a:r>
            <a:br>
              <a:rPr lang="en-US" sz="1400" dirty="0"/>
            </a:br>
            <a:r>
              <a:rPr lang="en-US" sz="1400" dirty="0"/>
              <a:t>3. Write a shell script to:</a:t>
            </a:r>
            <a:br>
              <a:rPr lang="en-US" sz="1400" dirty="0"/>
            </a:br>
            <a:r>
              <a:rPr lang="en-US" sz="1400" dirty="0"/>
              <a:t>4. Stop and remove old containers (if running).</a:t>
            </a:r>
            <a:br>
              <a:rPr lang="en-US" sz="1400" dirty="0"/>
            </a:br>
            <a:r>
              <a:rPr lang="en-US" sz="1400" dirty="0"/>
              <a:t>5. Build a new Docker image.</a:t>
            </a:r>
            <a:br>
              <a:rPr lang="en-US" sz="1400" dirty="0"/>
            </a:br>
            <a:r>
              <a:rPr lang="en-US" sz="1400" dirty="0"/>
              <a:t>5. Run a new container using the latest image.</a:t>
            </a:r>
            <a:br>
              <a:rPr lang="en-US" sz="1400" dirty="0"/>
            </a:br>
            <a:r>
              <a:rPr lang="en-US" sz="1400" dirty="0"/>
              <a:t>6. Display the container status.</a:t>
            </a:r>
            <a:br>
              <a:rPr lang="en-US" sz="1400" dirty="0"/>
            </a:br>
            <a:r>
              <a:rPr lang="en-US" sz="1400" dirty="0"/>
              <a:t> </a:t>
            </a:r>
            <a:br>
              <a:rPr lang="en-US" sz="1400" dirty="0"/>
            </a:br>
            <a:r>
              <a:rPr lang="en-US" sz="1400" dirty="0"/>
              <a:t>End</a:t>
            </a:r>
            <a:br>
              <a:rPr lang="en-US" sz="1400" dirty="0"/>
            </a:br>
            <a:br>
              <a:rPr lang="en-US" sz="1400" dirty="0"/>
            </a:br>
            <a:endParaRPr lang="en-IN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2267C7-67F3-2C1E-F8C4-87452FC8CE0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02565" y="133350"/>
            <a:ext cx="2280920" cy="457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2C0F8E-0812-B05D-02EB-4AEB195174CD}"/>
              </a:ext>
            </a:extLst>
          </p:cNvPr>
          <p:cNvPicPr/>
          <p:nvPr/>
        </p:nvPicPr>
        <p:blipFill>
          <a:blip r:embed="rId3"/>
          <a:srcRect t="35167" r="10975" b="23167"/>
          <a:stretch>
            <a:fillRect/>
          </a:stretch>
        </p:blipFill>
        <p:spPr>
          <a:xfrm>
            <a:off x="4962525" y="157480"/>
            <a:ext cx="1778635" cy="433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833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91A85-896C-A2B9-71BC-889AC170A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76D58-5725-E67F-4E06-025EB5B7A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FLOW CHART:</a:t>
            </a:r>
            <a:endParaRPr lang="en-IN" sz="2400" b="1" dirty="0"/>
          </a:p>
        </p:txBody>
      </p:sp>
      <p:pic>
        <p:nvPicPr>
          <p:cNvPr id="7" name="Content Placeholder 6" descr="A diagram of a software process&#10;&#10;AI-generated content may be incorrect.">
            <a:extLst>
              <a:ext uri="{FF2B5EF4-FFF2-40B4-BE49-F238E27FC236}">
                <a16:creationId xmlns:a16="http://schemas.microsoft.com/office/drawing/2014/main" id="{C46B337F-AEDA-D9C8-8163-2199502179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371" y="3244850"/>
            <a:ext cx="5157258" cy="7735888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62CCB60-8BC1-5265-5869-49A68FFAB6A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02565" y="133350"/>
            <a:ext cx="2280920" cy="457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E01DBD-7545-99D0-830C-70FCFBD6A978}"/>
              </a:ext>
            </a:extLst>
          </p:cNvPr>
          <p:cNvPicPr/>
          <p:nvPr/>
        </p:nvPicPr>
        <p:blipFill>
          <a:blip r:embed="rId4"/>
          <a:srcRect t="35167" r="10975" b="23167"/>
          <a:stretch>
            <a:fillRect/>
          </a:stretch>
        </p:blipFill>
        <p:spPr>
          <a:xfrm>
            <a:off x="4962525" y="157480"/>
            <a:ext cx="1778635" cy="433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37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1029E-68A0-EB6F-3ECB-6FB243DC4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9382E-7582-C419-45F5-764B2D155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1713086"/>
          </a:xfrm>
        </p:spPr>
        <p:txBody>
          <a:bodyPr>
            <a:normAutofit/>
          </a:bodyPr>
          <a:lstStyle/>
          <a:p>
            <a:r>
              <a:rPr lang="en-IN" sz="2800" b="1" dirty="0"/>
              <a:t>Code Overview: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FAB4B-A618-BB2B-0A2E-A14D65664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2000250"/>
            <a:ext cx="5915025" cy="5334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# Use official base image</a:t>
            </a:r>
          </a:p>
          <a:p>
            <a:pPr marL="0" indent="0">
              <a:buNone/>
            </a:pPr>
            <a:r>
              <a:rPr lang="en-IN" dirty="0"/>
              <a:t>FROM </a:t>
            </a:r>
            <a:r>
              <a:rPr lang="en-IN" dirty="0" err="1"/>
              <a:t>ubuntu:latest</a:t>
            </a:r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# Install dependencies</a:t>
            </a:r>
          </a:p>
          <a:p>
            <a:pPr marL="0" indent="0">
              <a:buNone/>
            </a:pPr>
            <a:r>
              <a:rPr lang="en-IN" dirty="0"/>
              <a:t>RUN apt-get update &amp;&amp; apt-get install -y nginx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# Copy index file</a:t>
            </a:r>
          </a:p>
          <a:p>
            <a:pPr marL="0" indent="0">
              <a:buNone/>
            </a:pPr>
            <a:r>
              <a:rPr lang="en-IN" dirty="0"/>
              <a:t>COPY index.html /var/www/html/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# Expose port</a:t>
            </a:r>
          </a:p>
          <a:p>
            <a:pPr marL="0" indent="0">
              <a:buNone/>
            </a:pPr>
            <a:r>
              <a:rPr lang="en-IN" dirty="0"/>
              <a:t>EXPOSE 80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# Start Nginx</a:t>
            </a:r>
          </a:p>
          <a:p>
            <a:pPr marL="0" indent="0">
              <a:buNone/>
            </a:pPr>
            <a:r>
              <a:rPr lang="en-IN" dirty="0"/>
              <a:t>CMD ["nginx", "-g", "daemon off;"]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70E172-0C54-78E4-93F7-1174C1887DA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02565" y="133350"/>
            <a:ext cx="2280920" cy="457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E54F6B-0008-0792-2F79-CED587BA65EB}"/>
              </a:ext>
            </a:extLst>
          </p:cNvPr>
          <p:cNvPicPr/>
          <p:nvPr/>
        </p:nvPicPr>
        <p:blipFill>
          <a:blip r:embed="rId3"/>
          <a:srcRect t="35167" r="10975" b="23167"/>
          <a:stretch>
            <a:fillRect/>
          </a:stretch>
        </p:blipFill>
        <p:spPr>
          <a:xfrm>
            <a:off x="4962525" y="157480"/>
            <a:ext cx="1778635" cy="4330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CDC4D9-7715-B237-4B0D-D9E4A5A9A1B4}"/>
              </a:ext>
            </a:extLst>
          </p:cNvPr>
          <p:cNvSpPr txBox="1"/>
          <p:nvPr/>
        </p:nvSpPr>
        <p:spPr>
          <a:xfrm>
            <a:off x="471488" y="7772400"/>
            <a:ext cx="568166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#!/bin/bash</a:t>
            </a:r>
          </a:p>
          <a:p>
            <a:endParaRPr lang="en-IN" dirty="0"/>
          </a:p>
          <a:p>
            <a:r>
              <a:rPr lang="en-IN" dirty="0"/>
              <a:t># Stop old container</a:t>
            </a:r>
          </a:p>
          <a:p>
            <a:r>
              <a:rPr lang="en-IN" dirty="0"/>
              <a:t>docker stop </a:t>
            </a:r>
            <a:r>
              <a:rPr lang="en-IN" dirty="0" err="1"/>
              <a:t>myapp</a:t>
            </a:r>
            <a:r>
              <a:rPr lang="en-IN" dirty="0"/>
              <a:t> 2&gt;/dev/null || true</a:t>
            </a:r>
          </a:p>
          <a:p>
            <a:r>
              <a:rPr lang="en-IN" dirty="0"/>
              <a:t>docker rm </a:t>
            </a:r>
            <a:r>
              <a:rPr lang="en-IN" dirty="0" err="1"/>
              <a:t>myapp</a:t>
            </a:r>
            <a:r>
              <a:rPr lang="en-IN" dirty="0"/>
              <a:t> 2&gt;/dev/null || true</a:t>
            </a:r>
          </a:p>
          <a:p>
            <a:endParaRPr lang="en-IN" dirty="0"/>
          </a:p>
          <a:p>
            <a:r>
              <a:rPr lang="en-IN" dirty="0"/>
              <a:t># Build new image</a:t>
            </a:r>
          </a:p>
          <a:p>
            <a:r>
              <a:rPr lang="en-IN" dirty="0"/>
              <a:t>docker build -t </a:t>
            </a:r>
            <a:r>
              <a:rPr lang="en-IN" dirty="0" err="1"/>
              <a:t>myapp</a:t>
            </a:r>
            <a:r>
              <a:rPr lang="en-IN" dirty="0"/>
              <a:t>-image .</a:t>
            </a:r>
          </a:p>
          <a:p>
            <a:endParaRPr lang="en-IN" dirty="0"/>
          </a:p>
          <a:p>
            <a:r>
              <a:rPr lang="en-IN" dirty="0"/>
              <a:t># Run new container</a:t>
            </a:r>
          </a:p>
          <a:p>
            <a:r>
              <a:rPr lang="en-IN" dirty="0"/>
              <a:t>docker run -d --name </a:t>
            </a:r>
            <a:r>
              <a:rPr lang="en-IN" dirty="0" err="1"/>
              <a:t>myapp</a:t>
            </a:r>
            <a:r>
              <a:rPr lang="en-IN" dirty="0"/>
              <a:t> -p 8080:80 </a:t>
            </a:r>
            <a:r>
              <a:rPr lang="en-IN" dirty="0" err="1"/>
              <a:t>myapp</a:t>
            </a:r>
            <a:r>
              <a:rPr lang="en-IN" dirty="0"/>
              <a:t>-image</a:t>
            </a:r>
          </a:p>
          <a:p>
            <a:endParaRPr lang="en-IN" dirty="0"/>
          </a:p>
          <a:p>
            <a:r>
              <a:rPr lang="en-IN" dirty="0"/>
              <a:t># Show running containers</a:t>
            </a:r>
          </a:p>
          <a:p>
            <a:r>
              <a:rPr lang="en-IN" dirty="0"/>
              <a:t>docker </a:t>
            </a:r>
            <a:r>
              <a:rPr lang="en-IN" dirty="0" err="1"/>
              <a:t>ps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0205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05A60-BBD6-33B2-CBD5-64B836C03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345D2-2F57-2BE5-D14C-4CD13BDA4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OUTPUT: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C0D96-BF82-AD42-100A-13B859DF0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2152650"/>
            <a:ext cx="5915025" cy="8828618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After executing the shell script:</a:t>
            </a:r>
          </a:p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Docker image</a:t>
            </a:r>
            <a:r>
              <a:rPr lang="en-US" dirty="0"/>
              <a:t> is built successfully.</a:t>
            </a:r>
          </a:p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/>
              <a:t>container</a:t>
            </a:r>
            <a:r>
              <a:rPr lang="en-US" dirty="0"/>
              <a:t> runs automatically exposing the app at port </a:t>
            </a:r>
            <a:r>
              <a:rPr lang="en-US" b="1" dirty="0"/>
              <a:t>8080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Running docker </a:t>
            </a:r>
            <a:r>
              <a:rPr lang="en-US" dirty="0" err="1"/>
              <a:t>ps</a:t>
            </a:r>
            <a:r>
              <a:rPr lang="en-US" dirty="0"/>
              <a:t> shows the container active and ready.</a:t>
            </a:r>
          </a:p>
          <a:p>
            <a:endParaRPr lang="en-US" b="1" dirty="0"/>
          </a:p>
          <a:p>
            <a:r>
              <a:rPr lang="en-US" sz="2400" b="1" dirty="0"/>
              <a:t>Sample Output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$ bash deploy.sh</a:t>
            </a:r>
          </a:p>
          <a:p>
            <a:pPr marL="0" indent="0">
              <a:buNone/>
            </a:pPr>
            <a:r>
              <a:rPr lang="en-IN" dirty="0"/>
              <a:t>Successfully built image '</a:t>
            </a:r>
            <a:r>
              <a:rPr lang="en-IN" dirty="0" err="1"/>
              <a:t>myapp</a:t>
            </a:r>
            <a:r>
              <a:rPr lang="en-IN" dirty="0"/>
              <a:t>-image'</a:t>
            </a:r>
          </a:p>
          <a:p>
            <a:pPr marL="0" indent="0">
              <a:buNone/>
            </a:pPr>
            <a:r>
              <a:rPr lang="en-IN" dirty="0"/>
              <a:t>Container '</a:t>
            </a:r>
            <a:r>
              <a:rPr lang="en-IN" dirty="0" err="1"/>
              <a:t>myapp</a:t>
            </a:r>
            <a:r>
              <a:rPr lang="en-IN" dirty="0"/>
              <a:t>' running on port 8080</a:t>
            </a:r>
          </a:p>
          <a:p>
            <a:pPr marL="0" indent="0">
              <a:buNone/>
            </a:pPr>
            <a:r>
              <a:rPr lang="en-IN" dirty="0"/>
              <a:t>CONTAINER ID   IMAGE          STATUS         PORTS</a:t>
            </a:r>
          </a:p>
          <a:p>
            <a:pPr marL="0" indent="0">
              <a:buNone/>
            </a:pPr>
            <a:r>
              <a:rPr lang="en-IN" dirty="0"/>
              <a:t>abcd1234efgh   </a:t>
            </a:r>
            <a:r>
              <a:rPr lang="en-IN" dirty="0" err="1"/>
              <a:t>myapp</a:t>
            </a:r>
            <a:r>
              <a:rPr lang="en-IN" dirty="0"/>
              <a:t>-image    Up 5 seconds   0.0.0.0:8080-&gt;80/</a:t>
            </a:r>
            <a:r>
              <a:rPr lang="en-IN" dirty="0" err="1"/>
              <a:t>tcp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F83A7F-E296-F2F3-C239-53C8EB4384C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02565" y="133350"/>
            <a:ext cx="2280920" cy="457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F0594C-99EB-5350-E8EA-FA50378CA9D9}"/>
              </a:ext>
            </a:extLst>
          </p:cNvPr>
          <p:cNvPicPr/>
          <p:nvPr/>
        </p:nvPicPr>
        <p:blipFill>
          <a:blip r:embed="rId3"/>
          <a:srcRect t="35167" r="10975" b="23167"/>
          <a:stretch>
            <a:fillRect/>
          </a:stretch>
        </p:blipFill>
        <p:spPr>
          <a:xfrm>
            <a:off x="4962525" y="157480"/>
            <a:ext cx="1778635" cy="433070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2E069BD-1D46-A472-7CBF-6D82A6FAD1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8596486"/>
            <a:ext cx="4419600" cy="294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095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F20EA-8A5B-AA39-C9EC-C3F121080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3D57D-757C-44F6-A7A6-AF7A50727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6856586"/>
          </a:xfrm>
        </p:spPr>
        <p:txBody>
          <a:bodyPr>
            <a:normAutofit/>
          </a:bodyPr>
          <a:lstStyle/>
          <a:p>
            <a:r>
              <a:rPr lang="en-US" sz="2400" b="1" dirty="0"/>
              <a:t>Conclusion:</a:t>
            </a:r>
            <a:br>
              <a:rPr lang="en-US" b="1" dirty="0"/>
            </a:br>
            <a:br>
              <a:rPr lang="en-US" b="1" dirty="0"/>
            </a:br>
            <a:r>
              <a:rPr lang="en-US" sz="1800" dirty="0"/>
              <a:t>This project demonstrates the </a:t>
            </a:r>
            <a:r>
              <a:rPr lang="en-US" sz="1800" b="1" dirty="0"/>
              <a:t>automation of build and deployment</a:t>
            </a:r>
            <a:r>
              <a:rPr lang="en-US" sz="1800" dirty="0"/>
              <a:t> using </a:t>
            </a:r>
            <a:r>
              <a:rPr lang="en-US" sz="1800" b="1" dirty="0"/>
              <a:t>Docker and Shell scripting</a:t>
            </a:r>
            <a:r>
              <a:rPr lang="en-US" sz="1800" dirty="0"/>
              <a:t>, which are core aspects of </a:t>
            </a:r>
            <a:r>
              <a:rPr lang="en-US" sz="1800" b="1" dirty="0"/>
              <a:t>DevOps</a:t>
            </a:r>
            <a:r>
              <a:rPr lang="en-US" sz="1800" dirty="0"/>
              <a:t>.</a:t>
            </a:r>
            <a:br>
              <a:rPr lang="en-US" sz="1800" dirty="0"/>
            </a:br>
            <a:r>
              <a:rPr lang="en-US" sz="1800" dirty="0"/>
              <a:t>It helps understand how CI/CD pipelines automate software delivery, ensuring consistency, speed, and reliability in deployment processes.</a:t>
            </a:r>
            <a:br>
              <a:rPr lang="en-US" sz="1800" dirty="0"/>
            </a:br>
            <a:br>
              <a:rPr lang="en-US" sz="1800" dirty="0"/>
            </a:br>
            <a:br>
              <a:rPr lang="en-US" dirty="0"/>
            </a:br>
            <a:r>
              <a:rPr lang="en-US" sz="2000" b="1" dirty="0"/>
              <a:t>LEARNING OUTCOMES:</a:t>
            </a:r>
            <a:br>
              <a:rPr lang="en-US" sz="2000" b="1" dirty="0"/>
            </a:br>
            <a:br>
              <a:rPr lang="en-US" sz="2000" b="1" dirty="0"/>
            </a:br>
            <a:r>
              <a:rPr lang="en-US" sz="1800" dirty="0"/>
              <a:t>Understood the </a:t>
            </a:r>
            <a:r>
              <a:rPr lang="en-US" sz="1800" b="1" dirty="0"/>
              <a:t>concept of DevOps and CI/CD pipelines</a:t>
            </a:r>
            <a:r>
              <a:rPr lang="en-US" sz="1800" dirty="0"/>
              <a:t>.</a:t>
            </a:r>
            <a:br>
              <a:rPr lang="en-US" sz="1800" dirty="0"/>
            </a:br>
            <a:r>
              <a:rPr lang="en-US" sz="1800" dirty="0"/>
              <a:t>Learned how to </a:t>
            </a:r>
            <a:r>
              <a:rPr lang="en-US" sz="1800" b="1" dirty="0"/>
              <a:t>create Docker images and run containers</a:t>
            </a:r>
            <a:r>
              <a:rPr lang="en-US" sz="1800" dirty="0"/>
              <a:t>.</a:t>
            </a:r>
            <a:br>
              <a:rPr lang="en-US" sz="1800" dirty="0"/>
            </a:br>
            <a:r>
              <a:rPr lang="en-US" sz="1800" dirty="0"/>
              <a:t>Gained hands-on experience in </a:t>
            </a:r>
            <a:r>
              <a:rPr lang="en-US" sz="1800" b="1" dirty="0"/>
              <a:t>automation using Shell scripting</a:t>
            </a:r>
            <a:r>
              <a:rPr lang="en-US" sz="1800" dirty="0"/>
              <a:t>.</a:t>
            </a:r>
            <a:br>
              <a:rPr lang="en-US" sz="1800" dirty="0"/>
            </a:br>
            <a:r>
              <a:rPr lang="en-US" sz="1800" dirty="0"/>
              <a:t>Improved understanding of </a:t>
            </a:r>
            <a:r>
              <a:rPr lang="en-US" sz="1800" b="1" dirty="0"/>
              <a:t>Linux-based deployment workflows</a:t>
            </a:r>
            <a:r>
              <a:rPr lang="en-US" sz="1800" dirty="0"/>
              <a:t>.</a:t>
            </a:r>
            <a:br>
              <a:rPr lang="en-US" sz="1800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16787F-2CB7-831E-689F-C5D5696D5E8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02565" y="133350"/>
            <a:ext cx="2280920" cy="457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FD9C43-A121-4040-C653-2E564F25C304}"/>
              </a:ext>
            </a:extLst>
          </p:cNvPr>
          <p:cNvPicPr/>
          <p:nvPr/>
        </p:nvPicPr>
        <p:blipFill>
          <a:blip r:embed="rId3"/>
          <a:srcRect t="35167" r="10975" b="23167"/>
          <a:stretch>
            <a:fillRect/>
          </a:stretch>
        </p:blipFill>
        <p:spPr>
          <a:xfrm>
            <a:off x="4962525" y="157480"/>
            <a:ext cx="1778635" cy="433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794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</TotalTime>
  <Words>813</Words>
  <Application>Microsoft Office PowerPoint</Application>
  <PresentationFormat>Widescreen</PresentationFormat>
  <Paragraphs>97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UNIVERSITY INSTITUTE OF COMPUTING   PROJECT REPORT ON   Mini DevOps Pipeline  using Docker &amp; Shell   Program Name: BCA    Linux Administration   23CAP-305       </vt:lpstr>
      <vt:lpstr>                                 BONAFIDE CERTIFICATE      Certified that this project report “Mini DevOps Pipeline using Docker &amp; Shell” is the Bonafide work of ”Aditya” under UID “23BCA10549” who carried out the project work under my supervision.        SIGNATURE  UIC DEPARTMENT ASSISTANT PROFESSOR  RAJAT KAPOOR </vt:lpstr>
      <vt:lpstr>  Table of Contents:- </vt:lpstr>
      <vt:lpstr>Objective:  To build a simple CI/CD (Continuous Integration and Continuous Deployment) pipeline using Docker and Shell scripting that automates the build and deployment process of an application.   Aim:  To understand and implement the core concepts of DevOps automation by scripting Docker build and deployment tasks, demonstrating how containerization and shell scripting streamline software delivery.  Tools / Commands Used:  Docker Bash / Shell Script Linux Terminal Commands Dockerfile   Task / Description:  In this project, a simple CI/CD pipeline was created using Docker and Shell scripting. The pipeline performs the following automated tasks:  Code Checkout / Preparation – Prepares application source code or files.  Docker Image Build – Builds a Docker image from a Dockerfile.  Container Deployment – Runs the image as a container.  Cleanup / Restart – Removes old containers and deploys the latest version automatically. This approach simulates a basic DevOps workflow, enabling continuous integration and deployment using simple Linux tools.  Algorithm / Logic / Flowchart: Algorithm Steps:    Start  2. Write a Dockerfile defining the environment and application setup. 3. Write a shell script to: 4. Stop and remove old containers (if running). 5. Build a new Docker image. 5. Run a new container using the latest image. 6. Display the container status.   End  </vt:lpstr>
      <vt:lpstr>FLOW CHART:</vt:lpstr>
      <vt:lpstr>Code Overview:</vt:lpstr>
      <vt:lpstr>OUTPUT:</vt:lpstr>
      <vt:lpstr>Conclusion:  This project demonstrates the automation of build and deployment using Docker and Shell scripting, which are core aspects of DevOps. It helps understand how CI/CD pipelines automate software delivery, ensuring consistency, speed, and reliability in deployment processes.   LEARNING OUTCOMES:  Understood the concept of DevOps and CI/CD pipelines. Learned how to create Docker images and run containers. Gained hands-on experience in automation using Shell scripting. Improved understanding of Linux-based deployment workflows.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Aditiya .</dc:creator>
  <cp:lastModifiedBy>Aditiya .</cp:lastModifiedBy>
  <cp:revision>1</cp:revision>
  <dcterms:created xsi:type="dcterms:W3CDTF">2025-11-05T12:08:53Z</dcterms:created>
  <dcterms:modified xsi:type="dcterms:W3CDTF">2025-11-05T13:20:32Z</dcterms:modified>
</cp:coreProperties>
</file>